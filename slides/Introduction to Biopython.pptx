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Merriweather"/>
      <p:regular r:id="rId21"/>
      <p:bold r:id="rId22"/>
      <p:italic r:id="rId23"/>
      <p:boldItalic r:id="rId24"/>
    </p:embeddedFont>
    <p:embeddedFont>
      <p:font typeface="DM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4AAEB8-7300-41AD-97A8-5E309333139C}">
  <a:tblStyle styleId="{584AAEB8-7300-41AD-97A8-5E309333139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erriweather-bold.fntdata"/><Relationship Id="rId21" Type="http://schemas.openxmlformats.org/officeDocument/2006/relationships/font" Target="fonts/Merriweather-regular.fntdata"/><Relationship Id="rId24" Type="http://schemas.openxmlformats.org/officeDocument/2006/relationships/font" Target="fonts/Merriweather-boldItalic.fntdata"/><Relationship Id="rId23" Type="http://schemas.openxmlformats.org/officeDocument/2006/relationships/font" Target="fonts/Merriweath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15f1a921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15f1a92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22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25.png"/><Relationship Id="rId7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31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Relationship Id="rId7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54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524500" y="3531989"/>
            <a:ext cx="1143000" cy="76200"/>
          </a:xfrm>
          <a:prstGeom prst="rect">
            <a:avLst/>
          </a:prstGeom>
          <a:solidFill>
            <a:srgbClr val="00D1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310526" y="1474589"/>
            <a:ext cx="7570946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Day 3: Introduction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to Biopython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409825" y="3989189"/>
            <a:ext cx="73723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Mastering Biological Sequence Computing in Python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829050" y="5048250"/>
            <a:ext cx="45339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Modules • Seq Objects • SeqIO • Online Access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54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785169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D1B2"/>
                </a:solidFill>
                <a:latin typeface="Merriweather"/>
                <a:ea typeface="Merriweather"/>
                <a:cs typeface="Merriweather"/>
                <a:sym typeface="Merriweather"/>
              </a:rPr>
              <a:t>Section 1: The Ecosystem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600325" y="3737669"/>
            <a:ext cx="69913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6F9FC"/>
                </a:solidFill>
                <a:latin typeface="DM Sans"/>
                <a:ea typeface="DM Sans"/>
                <a:cs typeface="DM Sans"/>
                <a:sym typeface="DM Sans"/>
              </a:rPr>
              <a:t>Exploring the core modules and the structural philosophy of Biopython.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600950"/>
            <a:ext cx="11887202" cy="5953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14835"/>
            <a:ext cx="3492549" cy="37808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14835"/>
            <a:ext cx="3492549" cy="37808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14835"/>
            <a:ext cx="3492549" cy="37808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452985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952500" y="3167360"/>
            <a:ext cx="116014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D1B2"/>
                </a:solidFill>
                <a:latin typeface="Merriweather"/>
                <a:ea typeface="Merriweather"/>
                <a:cs typeface="Merriweather"/>
                <a:sym typeface="Merriweather"/>
              </a:rPr>
              <a:t>Bio.Seq</a:t>
            </a:r>
            <a:endParaRPr/>
          </a:p>
        </p:txBody>
      </p:sp>
      <p:pic>
        <p:nvPicPr>
          <p:cNvPr descr="image.png" id="111" name="Google Shape;11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452985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4730799" y="3167360"/>
            <a:ext cx="15001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D1B2"/>
                </a:solidFill>
                <a:latin typeface="Merriweather"/>
                <a:ea typeface="Merriweather"/>
                <a:cs typeface="Merriweather"/>
                <a:sym typeface="Merriweather"/>
              </a:rPr>
              <a:t>Bio.SeqIO</a:t>
            </a:r>
            <a:endParaRPr/>
          </a:p>
        </p:txBody>
      </p:sp>
      <p:pic>
        <p:nvPicPr>
          <p:cNvPr descr="image.png" id="113" name="Google Shape;11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452985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8509099" y="3167360"/>
            <a:ext cx="164020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D1B2"/>
                </a:solidFill>
                <a:latin typeface="Merriweather"/>
                <a:ea typeface="Merriweather"/>
                <a:cs typeface="Merriweather"/>
                <a:sym typeface="Merriweather"/>
              </a:rPr>
              <a:t>Bio.Entrez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A2540"/>
                </a:solidFill>
                <a:latin typeface="Merriweather"/>
                <a:ea typeface="Merriweather"/>
                <a:cs typeface="Merriweather"/>
                <a:sym typeface="Merriweather"/>
              </a:rPr>
              <a:t>Core Modules Overview</a:t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D1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952500" y="3738860"/>
            <a:ext cx="2730549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The foundation of biological alphabet management. Handles DNA, RNA, and protein sequences with biological logic.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4730799" y="3738860"/>
            <a:ext cx="2730549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Universal interface for reading and writing sequence file formats (FASTA, GenBank, FASTQ, etc.).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509099" y="3738860"/>
            <a:ext cx="2730549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Programmatic access to NCBI's Entrez databases including PubMed, GenBank, and SNP databases.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762000" y="134927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A2540"/>
                </a:solidFill>
                <a:latin typeface="Merriweather"/>
                <a:ea typeface="Merriweather"/>
                <a:cs typeface="Merriweather"/>
                <a:sym typeface="Merriweather"/>
              </a:rPr>
              <a:t>The Seq Object</a:t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571500" y="1349275"/>
            <a:ext cx="76200" cy="571500"/>
          </a:xfrm>
          <a:prstGeom prst="rect">
            <a:avLst/>
          </a:prstGeom>
          <a:solidFill>
            <a:srgbClr val="00D1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571500" y="2301775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A sequence object is essentially a string with a </a:t>
            </a:r>
            <a:r>
              <a:rPr b="1" i="0" lang="en-US" sz="1650" u="none" cap="none" strike="noStrike">
                <a:solidFill>
                  <a:srgbClr val="0A2540"/>
                </a:solidFill>
                <a:latin typeface="DM Sans"/>
                <a:ea typeface="DM Sans"/>
                <a:cs typeface="DM Sans"/>
                <a:sym typeface="DM Sans"/>
              </a:rPr>
              <a:t>biological brain</a:t>
            </a: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. Unlike standard Python strings, it understands biological transformations.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685800" y="349871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762000" y="3497758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A2540"/>
                </a:solidFill>
                <a:latin typeface="DM Sans"/>
                <a:ea typeface="DM Sans"/>
                <a:cs typeface="DM Sans"/>
                <a:sym typeface="DM Sans"/>
              </a:rPr>
              <a:t>Immutability: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Like strings, Seq objects cannot be edited in-place.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685800" y="416903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762000" y="4168080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A2540"/>
                </a:solidFill>
                <a:latin typeface="DM Sans"/>
                <a:ea typeface="DM Sans"/>
                <a:cs typeface="DM Sans"/>
                <a:sym typeface="DM Sans"/>
              </a:rPr>
              <a:t>Biological Methods: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Transcription, translation, and reverse complementation are built-in.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685800" y="4839354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762000" y="4838402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A2540"/>
                </a:solidFill>
                <a:latin typeface="DM Sans"/>
                <a:ea typeface="DM Sans"/>
                <a:cs typeface="DM Sans"/>
                <a:sym typeface="DM Sans"/>
              </a:rPr>
              <a:t>Alphabet Support: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Tracks the biological nature of the sequence.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1421"/>
            <a:ext cx="5238750" cy="24514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321421"/>
            <a:ext cx="5238750" cy="245149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952500" y="2759571"/>
            <a:ext cx="23302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D1B2"/>
                </a:solidFill>
                <a:latin typeface="Merriweather"/>
                <a:ea typeface="Merriweather"/>
                <a:cs typeface="Merriweather"/>
                <a:sym typeface="Merriweather"/>
              </a:rPr>
              <a:t>The Seq Object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6762750" y="2759571"/>
            <a:ext cx="23302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D1B2"/>
                </a:solidFill>
                <a:latin typeface="Merriweather"/>
                <a:ea typeface="Merriweather"/>
                <a:cs typeface="Merriweather"/>
                <a:sym typeface="Merriweather"/>
              </a:rPr>
              <a:t>The SeqRecord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A2540"/>
                </a:solidFill>
                <a:latin typeface="Merriweather"/>
                <a:ea typeface="Merriweather"/>
                <a:cs typeface="Merriweather"/>
                <a:sym typeface="Merriweather"/>
              </a:rPr>
              <a:t>Seq vs. SeqRecord</a:t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D1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571500" y="5153917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SeqRecord = Seq + ID + Name + Description + Features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952500" y="3331071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Represents the raw sequence string. It is the </a:t>
            </a:r>
            <a:r>
              <a:rPr b="1" i="0" lang="en-US" sz="1650" u="none" cap="none" strike="noStrike">
                <a:solidFill>
                  <a:srgbClr val="0A2540"/>
                </a:solidFill>
                <a:latin typeface="DM Sans"/>
                <a:ea typeface="DM Sans"/>
                <a:cs typeface="DM Sans"/>
                <a:sym typeface="DM Sans"/>
              </a:rPr>
              <a:t>payload</a:t>
            </a: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6762750" y="3331071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An "envelope" containing the sequence plus metadata. It is the </a:t>
            </a:r>
            <a:r>
              <a:rPr b="1" i="0" lang="en-US" sz="1650" u="none" cap="none" strike="noStrike">
                <a:solidFill>
                  <a:srgbClr val="0A2540"/>
                </a:solidFill>
                <a:latin typeface="DM Sans"/>
                <a:ea typeface="DM Sans"/>
                <a:cs typeface="DM Sans"/>
                <a:sym typeface="DM Sans"/>
              </a:rPr>
              <a:t>annotated package</a:t>
            </a: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4" name="Google Shape;154;p19"/>
          <p:cNvGraphicFramePr/>
          <p:nvPr/>
        </p:nvGraphicFramePr>
        <p:xfrm>
          <a:off x="571500" y="18043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{584AAEB8-7300-41AD-97A8-5E309333139C}</a:tableStyleId>
              </a:tblPr>
              <a:tblGrid>
                <a:gridCol w="2526950"/>
                <a:gridCol w="2110225"/>
                <a:gridCol w="6411825"/>
              </a:tblGrid>
              <a:tr h="732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Attribute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540"/>
                    </a:solidFill>
                  </a:tcPr>
                </a:tc>
              </a:tr>
              <a:tr h="732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.seq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Seq Object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The actual DNA/Protein sequence.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2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Primary identifier (e.g., Accession number).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32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short name for the sequence.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2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human-readable free-text description.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3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.features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List of SeqFeature objects (genes, exons).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" name="Google Shape;155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A2540"/>
                </a:solidFill>
                <a:latin typeface="Merriweather"/>
                <a:ea typeface="Merriweather"/>
                <a:cs typeface="Merriweather"/>
                <a:sym typeface="Merriweather"/>
              </a:rPr>
              <a:t>SeqRecord Attributes</a:t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D1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571500" y="3241476"/>
            <a:ext cx="25269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3098452" y="3241476"/>
            <a:ext cx="2110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5208686" y="3241476"/>
            <a:ext cx="64118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571500" y="3976687"/>
            <a:ext cx="25269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3098452" y="3976687"/>
            <a:ext cx="2110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5208686" y="3976687"/>
            <a:ext cx="64118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571500" y="4711898"/>
            <a:ext cx="25269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3098452" y="4711898"/>
            <a:ext cx="2110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5208686" y="4711898"/>
            <a:ext cx="64118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571500" y="5447109"/>
            <a:ext cx="25269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3098452" y="5447109"/>
            <a:ext cx="2110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5208686" y="5447109"/>
            <a:ext cx="64118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571500" y="6182320"/>
            <a:ext cx="25269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3098452" y="6182320"/>
            <a:ext cx="2110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5208686" y="6182320"/>
            <a:ext cx="64118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54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571500" y="2785169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D1B2"/>
                </a:solidFill>
                <a:latin typeface="Merriweather"/>
                <a:ea typeface="Merriweather"/>
                <a:cs typeface="Merriweather"/>
                <a:sym typeface="Merriweather"/>
              </a:rPr>
              <a:t>Section 2: Parsing &amp; Databases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2586037" y="3737669"/>
            <a:ext cx="70199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6F9FC"/>
                </a:solidFill>
                <a:latin typeface="DM Sans"/>
                <a:ea typeface="DM Sans"/>
                <a:cs typeface="DM Sans"/>
                <a:sym typeface="DM Sans"/>
              </a:rPr>
              <a:t>Efficiently reading biological data and connecting to online repositories.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571500" y="1524000"/>
            <a:ext cx="55006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D1B2"/>
                </a:solidFill>
                <a:latin typeface="Merriweather"/>
                <a:ea typeface="Merriweather"/>
                <a:cs typeface="Merriweather"/>
                <a:sym typeface="Merriweather"/>
              </a:rPr>
              <a:t>Unified Interface</a:t>
            </a:r>
            <a:endParaRPr/>
          </a:p>
        </p:txBody>
      </p:sp>
      <p:pic>
        <p:nvPicPr>
          <p:cNvPr descr="image.png" id="185" name="Google Shape;18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24000"/>
            <a:ext cx="5238750" cy="5373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1823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5339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88556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A2540"/>
                </a:solidFill>
                <a:latin typeface="Merriweather"/>
                <a:ea typeface="Merriweather"/>
                <a:cs typeface="Merriweather"/>
                <a:sym typeface="Merriweather"/>
              </a:rPr>
              <a:t>Parsing with SeqIO</a:t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D1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571500" y="2095500"/>
            <a:ext cx="5238750" cy="679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Bio.SeqIO uses a simple syntax regardless of file complexity.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571500" y="2965846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A2540"/>
                </a:solidFill>
                <a:latin typeface="DM Sans"/>
                <a:ea typeface="DM Sans"/>
                <a:cs typeface="DM Sans"/>
                <a:sym typeface="DM Sans"/>
              </a:rPr>
              <a:t>read():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For files with exactly one record.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571500" y="3301007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A2540"/>
                </a:solidFill>
                <a:latin typeface="DM Sans"/>
                <a:ea typeface="DM Sans"/>
                <a:cs typeface="DM Sans"/>
                <a:sym typeface="DM Sans"/>
              </a:rPr>
              <a:t>parse():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For files with multiple records (iterator).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571500" y="3636168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A2540"/>
                </a:solidFill>
                <a:latin typeface="DM Sans"/>
                <a:ea typeface="DM Sans"/>
                <a:cs typeface="DM Sans"/>
                <a:sym typeface="DM Sans"/>
              </a:rPr>
              <a:t>to_dict():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Loads records into a dictionary for random access.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A2540"/>
                </a:solidFill>
                <a:latin typeface="Merriweather"/>
                <a:ea typeface="Merriweather"/>
                <a:cs typeface="Merriweather"/>
                <a:sym typeface="Merriweather"/>
              </a:rPr>
              <a:t>Relative Format Usage</a:t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D1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571500" y="505390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18096"/>
                </a:solidFill>
                <a:latin typeface="DM Sans"/>
                <a:ea typeface="DM Sans"/>
                <a:cs typeface="DM Sans"/>
                <a:sym typeface="DM Sans"/>
              </a:rPr>
              <a:t>*Estimates based on common bioinformatic pipeline ingestion rates.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62125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1905000"/>
            <a:ext cx="40005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 txBox="1"/>
          <p:nvPr/>
        </p:nvSpPr>
        <p:spPr>
          <a:xfrm>
            <a:off x="6381750" y="2003226"/>
            <a:ext cx="55006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D1B2"/>
                </a:solidFill>
                <a:latin typeface="Merriweather"/>
                <a:ea typeface="Merriweather"/>
                <a:cs typeface="Merriweather"/>
                <a:sym typeface="Merriweather"/>
              </a:rPr>
              <a:t>Python Implementation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A2540"/>
                </a:solidFill>
                <a:latin typeface="Merriweather"/>
                <a:ea typeface="Merriweather"/>
                <a:cs typeface="Merriweather"/>
                <a:sym typeface="Merriweather"/>
              </a:rPr>
              <a:t>Hands-on: Reading FASTA</a:t>
            </a: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D1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6381750" y="5136951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Using an </a:t>
            </a:r>
            <a:r>
              <a:rPr b="1" i="0" lang="en-US" sz="1650" u="none" cap="none" strike="noStrike">
                <a:solidFill>
                  <a:srgbClr val="0A2540"/>
                </a:solidFill>
                <a:latin typeface="DM Sans"/>
                <a:ea typeface="DM Sans"/>
                <a:cs typeface="DM Sans"/>
                <a:sym typeface="DM Sans"/>
              </a:rPr>
              <a:t>iterator</a:t>
            </a: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ensures low memory consumption, even for massive sequencing files.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6500" y="369584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6500" y="404053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76500" y="438522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76500" y="4729906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/>
        </p:nvSpPr>
        <p:spPr>
          <a:xfrm>
            <a:off x="2360533" y="1835646"/>
            <a:ext cx="7470933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Extracting Sequence Info</a:t>
            </a:r>
            <a:endParaRPr/>
          </a:p>
        </p:txBody>
      </p:sp>
      <p:sp>
        <p:nvSpPr>
          <p:cNvPr id="225" name="Google Shape;225;p24"/>
          <p:cNvSpPr txBox="1"/>
          <p:nvPr/>
        </p:nvSpPr>
        <p:spPr>
          <a:xfrm>
            <a:off x="2476500" y="2931021"/>
            <a:ext cx="723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Once read, biological properties are just one method away: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2476500" y="3643461"/>
            <a:ext cx="7239000" cy="344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A2540"/>
                </a:solidFill>
                <a:latin typeface="DM Sans"/>
                <a:ea typeface="DM Sans"/>
                <a:cs typeface="DM Sans"/>
                <a:sym typeface="DM Sans"/>
              </a:rPr>
              <a:t>GC Content: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GC(record.seq) via Bio.SeqUtils</a:t>
            </a:r>
            <a:endParaRPr/>
          </a:p>
        </p:txBody>
      </p:sp>
      <p:sp>
        <p:nvSpPr>
          <p:cNvPr id="227" name="Google Shape;227;p24"/>
          <p:cNvSpPr txBox="1"/>
          <p:nvPr/>
        </p:nvSpPr>
        <p:spPr>
          <a:xfrm>
            <a:off x="2476500" y="3988147"/>
            <a:ext cx="7239000" cy="344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A2540"/>
                </a:solidFill>
                <a:latin typeface="DM Sans"/>
                <a:ea typeface="DM Sans"/>
                <a:cs typeface="DM Sans"/>
                <a:sym typeface="DM Sans"/>
              </a:rPr>
              <a:t>Translation: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record.seq.translate()</a:t>
            </a:r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2476500" y="4332833"/>
            <a:ext cx="7239000" cy="344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A2540"/>
                </a:solidFill>
                <a:latin typeface="DM Sans"/>
                <a:ea typeface="DM Sans"/>
                <a:cs typeface="DM Sans"/>
                <a:sym typeface="DM Sans"/>
              </a:rPr>
              <a:t>Reverse Complement: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record.seq.reverse_complement()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2476500" y="4677519"/>
            <a:ext cx="7239000" cy="344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A2540"/>
                </a:solidFill>
                <a:latin typeface="DM Sans"/>
                <a:ea typeface="DM Sans"/>
                <a:cs typeface="DM Sans"/>
                <a:sym typeface="DM Sans"/>
              </a:rPr>
              <a:t>Slicing: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record.seq[0:100] (Biological sub-sequences)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540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/>
        </p:nvSpPr>
        <p:spPr>
          <a:xfrm>
            <a:off x="5348287" y="4937670"/>
            <a:ext cx="30289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biopython.org  help@bioinformatics.edu</a:t>
            </a:r>
            <a:endParaRPr/>
          </a:p>
        </p:txBody>
      </p:sp>
      <p:pic>
        <p:nvPicPr>
          <p:cNvPr descr="image.png" id="236" name="Google Shape;23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2925" y="495672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6450" y="495672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5"/>
          <p:cNvSpPr txBox="1"/>
          <p:nvPr/>
        </p:nvSpPr>
        <p:spPr>
          <a:xfrm>
            <a:off x="3700700" y="1720304"/>
            <a:ext cx="4790598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D1B2"/>
                </a:solidFill>
                <a:latin typeface="Merriweather"/>
                <a:ea typeface="Merriweather"/>
                <a:cs typeface="Merriweather"/>
                <a:sym typeface="Merriweather"/>
              </a:rPr>
              <a:t>Q&amp;A</a:t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3814762" y="3101429"/>
            <a:ext cx="4562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Thank you for your attention!</a:t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3814762" y="4031009"/>
            <a:ext cx="45624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Ready for Day 3 Practical Session?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90923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7466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5855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04229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A2540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51" name="Google Shape;251;p26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D1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6"/>
          <p:cNvSpPr/>
          <p:nvPr/>
        </p:nvSpPr>
        <p:spPr>
          <a:xfrm>
            <a:off x="571500" y="2142380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6"/>
          <p:cNvSpPr/>
          <p:nvPr/>
        </p:nvSpPr>
        <p:spPr>
          <a:xfrm>
            <a:off x="571500" y="312524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/>
          <p:nvPr/>
        </p:nvSpPr>
        <p:spPr>
          <a:xfrm>
            <a:off x="571500" y="3910012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6"/>
          <p:cNvSpPr/>
          <p:nvPr/>
        </p:nvSpPr>
        <p:spPr>
          <a:xfrm>
            <a:off x="571500" y="31157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6"/>
          <p:cNvSpPr/>
          <p:nvPr/>
        </p:nvSpPr>
        <p:spPr>
          <a:xfrm>
            <a:off x="571500" y="31157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571500" y="3900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571500" y="3900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571500" y="48833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571500" y="48833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/>
          <p:cNvSpPr txBox="1"/>
          <p:nvPr/>
        </p:nvSpPr>
        <p:spPr>
          <a:xfrm>
            <a:off x="1666875" y="228525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https://png.pngtree.com/thumb_back/fw800/background/20251112/pngtree-abstract-blue-dna-double-helix-structures-with-molecular-background-image_20302800.webp</a:t>
            </a:r>
            <a:endParaRPr/>
          </a:p>
        </p:txBody>
      </p:sp>
      <p:sp>
        <p:nvSpPr>
          <p:cNvPr id="262" name="Google Shape;262;p26"/>
          <p:cNvSpPr txBox="1"/>
          <p:nvPr/>
        </p:nvSpPr>
        <p:spPr>
          <a:xfrm>
            <a:off x="1666875" y="272906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pngtree.com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1666875" y="326811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https://media.istockphoto.com/id/1132001069/vector/network-technology-line-icon-set.jpg?s=612x612&amp;w=is&amp;k=20&amp;c=2QjcfG4Dqk4hB32aehoBl_vvUrNG7h0IeJZnThLVl4A=</a:t>
            </a:r>
            <a:endParaRPr/>
          </a:p>
        </p:txBody>
      </p:sp>
      <p:sp>
        <p:nvSpPr>
          <p:cNvPr id="264" name="Google Shape;264;p26"/>
          <p:cNvSpPr txBox="1"/>
          <p:nvPr/>
        </p:nvSpPr>
        <p:spPr>
          <a:xfrm>
            <a:off x="1666875" y="351383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www.istockphoto.com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1666875" y="405288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https://www.earlham.ac.uk/sites/default/files/styles/image_mobile_1x/public/images/articles/Students-need-up-bioinformatics-game-coding-python/Students-bionformatics-game-coding-transferable-skills-770.jpg?itok=PTOPP07y</a:t>
            </a: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1666875" y="449669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www.earlham.ac.uk</a:t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1666875" y="503574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https://png.pngtree.com/thumb_back/fw800/background/20230624/pngtree-vibrant-dna-helix-or-molecular-structure-rendered-in-3d-image_3671461.jpg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1666875" y="528146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pngtree.com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